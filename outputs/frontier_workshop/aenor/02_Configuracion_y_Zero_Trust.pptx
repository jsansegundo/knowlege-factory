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la sesión y su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Workshop es una actividad de descubrimiento y priorización —no es trabajo de configuración— y que sus salidas son el reporte HTML y el JSON que se debe conservar como registro canónico. Aclarar brevemente las siete pilares para situar el alcance (enfocar en 'Data' para este dominio).</a:t>
            </a:r>
          </a:p>
          <a:p/>
          <a:p>
            <a:r>
              <a:t>Fuentes: documents/03 - Frontier Accelerate for Security Envisioning and POC - FAQ.docx, documents/05 - Frontier Accelerate for Security Envisioning and POC - Zero Trust Workshop Delivery Guide for Frontier Accelerate.docx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Reforzar la necesidad de preparación del partner y del cliente. Demostrar la secuencia de exportar JSON y por qué es crítico (localStorage es frágil). Insistir en la regla del 80% de tareas para considerarse completa la sesión de pilar.</a:t>
            </a:r>
          </a:p>
          <a:p/>
          <a:p>
            <a:r>
              <a:t>Fuentes: documents/05 - Frontier Accelerate for Security Envisioning and POC - Zero Trust Workshop Delivery Guide for Frontier Accelerate.docx, documents/03 - Frontier Accelerate for Security Envisioning and POC - FAQ.docx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cómo se determina el alcance según dominios (recordar que aquí el dominio es 'Protección del dato'). Explicar el beneficio de re-usar el JSON previo para ahorrar tiempo y enfocarse en cambios o contenido nuevo publicado por Microsoft.</a:t>
            </a:r>
          </a:p>
          <a:p/>
          <a:p>
            <a:r>
              <a:t>Fuentes: documents/05 - Frontier Accelerate for Security Envisioning and POC - Zero Trust Workshop Delivery Guide for Frontier Accelerate.docx, documents/03 - Frontier Accelerate for Security Envisioning and POC - FAQ.docx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diferencias entre discovery y protección: el scanner puede operar en modo descubrimiento (no aplicar cambios). Revisar requisitos del scanner (Windows Server + SQL). Aclarar configuración recomendada para evitar impacto durante discovery y resumir cobertura de DLP (servicios y endpoints).</a:t>
            </a:r>
          </a:p>
          <a:p/>
          <a:p>
            <a:r>
              <a:t>Fuentes: documents/DS-06-Module Delivery Guide-On-premises - v8.5.docx, documents/DS-01-Module Delivery Guide-Exchange - v8.5.1.docx, documents/DS-07-Module Delivery Guide-Windows Endpoints - v8.5.1.docx, documents/DS-40-Pre-Engagement and Kickoff deck - v8.5.pptx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Indicar cómo presentar los resultados al cliente: empezar por los hallazgos más impactantes, luego recomendar soluciones Purview alineadas. Recordar completar los pasos de análisis de cada módulo antes de preparar el reporte de cierre y posible roadmap de mitigación.</a:t>
            </a:r>
          </a:p>
          <a:p/>
          <a:p>
            <a:r>
              <a:t>Fuentes: documents/DS-00-MasterDeliveryGuide - v8.5.docx, documents/DS-03-Module Delivery Guide-Teams - v8.5.1.docx, documents/DS-41-Close-out deck - v8.5.pptx, documents/FY27 Security Discovery Matrix.xlsx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02 Configuracion y Zero Trust · Aenor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Frontier Accelerate for Security · Envisioning &amp;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Zero Trust Workshop en la entrega del dominio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Evaluación y planificación de roadmap basada en las 7 pilares de Zero Trust (Identity, Devices, Data, Network, Infrastructure, Security Operations, AI).</a:t>
            </a:r>
          </a:p>
          <a:p>
            <a:pPr>
              <a:defRPr sz="2000"/>
            </a:pPr>
            <a:r>
              <a:t>Recomendado como primer paso para los dominios in-scope antes de empezar configuración práctica.</a:t>
            </a:r>
          </a:p>
          <a:p>
            <a:pPr>
              <a:defRPr sz="2000"/>
            </a:pPr>
            <a:r>
              <a:t>Entrega mediante la herramienta Zero Trust Workshop (zerotrust.microsoft.com) que genera: Progress Report (HTML) y un JSON exportable.</a:t>
            </a:r>
          </a:p>
          <a:p>
            <a:pPr>
              <a:defRPr sz="2000"/>
            </a:pPr>
            <a:r>
              <a:t>El workshop NO incluye configuración, despliegue ni POC en el tenant del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buenas prácticas de entrega del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Objetivos por sesión: recorrer las áreas in-scope en la herramienta y capturar el estado de al menos el 80% de las tareas.</a:t>
            </a:r>
          </a:p>
          <a:p>
            <a:pPr>
              <a:defRPr sz="2000"/>
            </a:pPr>
            <a:r>
              <a:t>La herramienta guarda datos en browser localStorage: riesgo de pérdida si se borra/cache o cambia navegador.</a:t>
            </a:r>
          </a:p>
          <a:p>
            <a:pPr>
              <a:defRPr sz="2000"/>
            </a:pPr>
            <a:r>
              <a:t>Exportar el JSON periódicamente (recomendado cada 30–60 minutos) y siempre al final de la sesión; tratar el último JSON exportado como registro canónico.</a:t>
            </a:r>
          </a:p>
          <a:p>
            <a:pPr>
              <a:defRPr sz="2000"/>
            </a:pPr>
            <a:r>
              <a:t>Preparación requerida: ver los vídeos guiados por pilar y ejecutar al menos 3 pilares end-to-end en la herramienta antes de la primera entrega.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Ámbito, repetición y sesiones delta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 alcance de pilares y áreas se define por los dominios in-scope; algunos pilares pueden contribuir como sub-áreas.</a:t>
            </a:r>
          </a:p>
          <a:p>
            <a:pPr>
              <a:defRPr sz="2000"/>
            </a:pPr>
            <a:r>
              <a:t>En entregas estándar, el orden de los pilares sigue la selección de dominios in-scope.</a:t>
            </a:r>
          </a:p>
          <a:p>
            <a:pPr>
              <a:defRPr sz="2000"/>
            </a:pPr>
            <a:r>
              <a:t>Si existe un workshop previo reciente, se puede re-importar su JSON y hacer una sesión delta: cubrir solo tareas nuevas o las que el cliente quiera revisar.</a:t>
            </a:r>
          </a:p>
          <a:p>
            <a:pPr>
              <a:defRPr sz="2000"/>
            </a:pPr>
            <a:r>
              <a:t>Microsoft actualiza contenido trimestralmente; workshops antiguos pueden justificar una nueva ejecución.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Configuración de módulos para Protección del Dato: Purview y DLP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 automatización de descubrimiento (Data Security Check) usa Microsoft Purview y el Information Protection scanner para repositorios on-premises.</a:t>
            </a:r>
          </a:p>
          <a:p>
            <a:pPr>
              <a:defRPr sz="2000"/>
            </a:pPr>
            <a:r>
              <a:t>El scanner corre como servicio en Windows Server, requiere SQL Server y puede configurarse on‑demand o continuamente; para discovery se puede usar 'Policy Only'.</a:t>
            </a:r>
          </a:p>
          <a:p>
            <a:pPr>
              <a:defRPr sz="2000"/>
            </a:pPr>
            <a:r>
              <a:t>Durante el escaneo recomendado: 'Treat recommended labeling' = Off y 'Enable DLP rules' = Off para que el scanner identifique archivos sin aplicar etiquetas o reglas.</a:t>
            </a:r>
          </a:p>
          <a:p>
            <a:pPr>
              <a:defRPr sz="2000"/>
            </a:pPr>
            <a:r>
              <a:t>Purview DLP identifica y protege información sensible en Exchange, SharePoint, OneDrive y Teams; DLP para endpoints puede auditar Office/PDF/CSV en Windows 11 y usa tipos de información sensibles (out‑of‑box y custom).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hallazgos, reporting y pasos siguientes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Análisis en dos etapas: quick scan con dashboards para identificar patrones y luego análisis detallado con logs y exportes.</a:t>
            </a:r>
          </a:p>
          <a:p>
            <a:pPr>
              <a:defRPr sz="2000"/>
            </a:pPr>
            <a:r>
              <a:t>Mapear hallazgos y riesgos a productos Microsoft Purview para formular recomendaciones y próximas acciones; se pueden ofrecer presentaciones/demos de producto opcionales.</a:t>
            </a:r>
          </a:p>
          <a:p>
            <a:pPr>
              <a:defRPr sz="2000"/>
            </a:pPr>
            <a:r>
              <a:t>El Automated Discovery suele identificar riesgos típicos: PII, datos financieros y datos sensibles personalizados; documentar impacto y mitigaciones en el reporte de cierre.</a:t>
            </a:r>
          </a:p>
          <a:p>
            <a:pPr>
              <a:defRPr sz="2000"/>
            </a:pPr>
            <a:r>
              <a:t>Completar guías por módulo antes de redactar el informe final y recomendaciones (usar los módulos obligatorios y opcionales según alcance).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